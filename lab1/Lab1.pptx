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7" r:id="rId4"/>
    <p:sldId id="264" r:id="rId5"/>
    <p:sldId id="263" r:id="rId6"/>
    <p:sldId id="266" r:id="rId7"/>
    <p:sldId id="26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150" autoAdjust="0"/>
  </p:normalViewPr>
  <p:slideViewPr>
    <p:cSldViewPr snapToGrid="0">
      <p:cViewPr varScale="1">
        <p:scale>
          <a:sx n="100" d="100"/>
          <a:sy n="100" d="100"/>
        </p:scale>
        <p:origin x="12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3DC76-EAA9-41AC-A863-22EED05C5122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319F7-174A-4D1C-94A6-D8A992FC13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988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319F7-174A-4D1C-94A6-D8A992FC13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420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319F7-174A-4D1C-94A6-D8A992FC13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240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713254-2270-8B7A-77EC-4C556F239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E7CD64-3B25-298B-537A-39928DA3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537DDB-9862-47F8-4652-2358039E9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848022-56AC-C73C-62A0-58B51317D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6D7447-56D5-3C4D-A4F6-92017A0A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33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64AB8-F9FF-84E2-9438-7A204CDB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72FEAD-52B3-71B1-CCCD-D4E62EC51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7B97D8-B3B5-2F23-1336-EAA638C1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46DA20-5DFF-6ED8-BCE7-B748F824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CB3AC-8EE5-DF63-7A0F-5518317B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2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DBF50-041D-9D83-3C44-E86E40794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685E17-83D2-92E3-1F03-8D3642AC2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445406-78C3-D2FA-69EE-4F5C8FAEB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5E30C6-5FDB-B88C-A345-B8B02A43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75D624-5E47-961E-6224-5D1CDB21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80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14820-D429-8991-696C-D80A3E60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C8F3A0-AF60-3D4B-6ED7-D7E313D95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CEF717-F3AC-CC42-3AB6-D458C88F9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B968F2-8671-E76D-2A8D-A04904B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78D2C8-E76C-4A79-22AE-8AC6BDAE4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9C869E-BB2D-F966-B000-645EFF35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30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4B2F5-AC65-EFE9-822D-894AED6D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4F4AF7-03E9-3C9D-309B-05E15F57B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A4FE1E-55FF-3F13-6EAC-EA9689B44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F12939-167E-ACE5-F252-32A951196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840C0A-031F-CED0-370C-A099A44BD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596A8B-D89F-4EFF-D519-B66E98228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57AE9E-BC3E-6755-8F8D-45C9E929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C24022-678E-6276-2976-99F78A38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3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6726A-A6B4-F7E8-085F-9A329777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CBE4CB-F9B5-8C94-250A-732EF230A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3C3047-DDAA-3776-9E87-C4FD0CB0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DF7024-AED3-73C0-4D1F-7144F450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569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7CAB5E-EF99-8997-4712-2B7D2442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4DD6FC-4790-4308-682F-3C70DE382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E68460-8F2A-4162-3FE4-1D63AFC7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36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7C1C2-27D7-0D0B-49CA-47E0BD2F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C2C653-43FD-791A-0FD6-E0A853476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20718E-E07B-D1CC-7045-4EA1793EA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456325-E539-A0F5-C45D-257A6FB0F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425244-F316-0952-4263-191F3FC6F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29FC97-8C8E-7704-D7F5-D15E0097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43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33111-7BBA-2DC2-3530-B8239E407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2483A2-A4DF-AAA1-CC70-036525ECC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9CF569-EE85-A9A4-24CC-49B071306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F82B86-BF29-DF9F-5866-67A9ECD8C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5B64DF-367E-6C4A-262E-70C209423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A7D376-648D-47EE-2CEB-13D00A44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244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07C5A-BA6C-6307-C1C3-DAD2A4350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726BC8-DE96-7297-F361-9B832DC36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E9C1F5-2501-697F-FAEA-679F8473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D23F16-9A0C-8365-E0FD-E7443730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9C886-B45F-0EEA-EE42-9AAA99BA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03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F642D1-00D6-E3BB-CF7D-4428D48E6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443C33-BC5C-A169-179E-374F9D63F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CE4E2-313A-A880-ECA4-2D1C3D02B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18F61-A7CC-587B-0AB0-7B0E01F88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C0B93-3920-359A-FD4A-FE5BF817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89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748507-3C3E-0BFC-E96D-53EEDE317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F95D9B-6086-C20F-29C9-8051E1614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5C047-7905-03AD-96AE-AA33A46CE7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45C4E-705B-4EBF-960C-6C21316C361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7EA89-C90E-CE82-6FBE-882CE3232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E16C42-CD0D-CB5E-E30F-3D1692FF4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B2E86A-E866-47EE-A4AC-6F6EE5EA3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28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unix/index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log.csdn.net/weilaaer/article/details/13110561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cschool.cn/cplusplus/" TargetMode="External"/><Relationship Id="rId2" Type="http://schemas.openxmlformats.org/officeDocument/2006/relationships/hyperlink" Target="https://www.runoob.com/cplusplus/cpp-tutorial.html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git/git-basic-operations.html" TargetMode="External"/><Relationship Id="rId2" Type="http://schemas.openxmlformats.org/officeDocument/2006/relationships/hyperlink" Target="https://git-scm.com/doc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cmake/cmake-tutorial.html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1089E-DA2E-A02F-1BD4-38B578D5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74075BC-9872-0F75-DCA1-28791B215AFB}"/>
              </a:ext>
            </a:extLst>
          </p:cNvPr>
          <p:cNvSpPr txBox="1"/>
          <p:nvPr/>
        </p:nvSpPr>
        <p:spPr>
          <a:xfrm>
            <a:off x="432769" y="530492"/>
            <a:ext cx="2533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Lab 1</a:t>
            </a:r>
            <a:endParaRPr lang="zh-CN" altLang="en-US" sz="3600" dirty="0">
              <a:latin typeface="ADLaM Display" panose="020F0502020204030204" pitchFamily="2" charset="0"/>
              <a:ea typeface="Yu Gothic UI" panose="020B0500000000000000" pitchFamily="34" charset="-128"/>
              <a:cs typeface="ADLaM Display" panose="020F05020202040302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F90182-74A7-9490-FEEB-384BC76E46BD}"/>
              </a:ext>
            </a:extLst>
          </p:cNvPr>
          <p:cNvSpPr txBox="1"/>
          <p:nvPr/>
        </p:nvSpPr>
        <p:spPr>
          <a:xfrm>
            <a:off x="1026082" y="1430931"/>
            <a:ext cx="58930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Learning goals:</a:t>
            </a: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AutoNum type="arabicPeriod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Install ubuntu 20.04</a:t>
            </a:r>
          </a:p>
          <a:p>
            <a:pPr marL="342900" indent="-342900">
              <a:buAutoNum type="arabicPeriod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Learn the basics of shell and git</a:t>
            </a:r>
          </a:p>
          <a:p>
            <a:pPr marL="342900" indent="-342900">
              <a:buAutoNum type="arabicPeriod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Learn C++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7577A5-1D5F-4612-80AA-1D36279B6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974" y="391152"/>
            <a:ext cx="2844946" cy="25718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7351909-E235-B83B-1843-AD332A505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163" y="4013245"/>
            <a:ext cx="3753043" cy="18733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2AAF237-19A4-974E-5DFD-8AB3170B4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198" y="3520277"/>
            <a:ext cx="3410125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42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EB85E-B925-7568-9A2D-4F12F7AC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B1902C9-7C5B-C190-16C9-898FDC6860D1}"/>
              </a:ext>
            </a:extLst>
          </p:cNvPr>
          <p:cNvSpPr txBox="1"/>
          <p:nvPr/>
        </p:nvSpPr>
        <p:spPr>
          <a:xfrm>
            <a:off x="432769" y="530492"/>
            <a:ext cx="2533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Lab 1</a:t>
            </a:r>
            <a:endParaRPr lang="zh-CN" altLang="en-US" sz="3600" dirty="0">
              <a:latin typeface="ADLaM Display" panose="020F0502020204030204" pitchFamily="2" charset="0"/>
              <a:ea typeface="Yu Gothic UI" panose="020B0500000000000000" pitchFamily="34" charset="-128"/>
              <a:cs typeface="ADLaM Display" panose="020F05020202040302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E043B5-F9CE-C9D9-1309-D152FAA460AB}"/>
              </a:ext>
            </a:extLst>
          </p:cNvPr>
          <p:cNvSpPr txBox="1"/>
          <p:nvPr/>
        </p:nvSpPr>
        <p:spPr>
          <a:xfrm>
            <a:off x="1026082" y="1430931"/>
            <a:ext cx="1017531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Installing Ubuntu 20.04</a:t>
            </a: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Choose installation media</a:t>
            </a:r>
            <a:r>
              <a:rPr lang="zh-CN" alt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：</a:t>
            </a: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VM (recommend for class)</a:t>
            </a:r>
          </a:p>
          <a:p>
            <a:pPr marL="457200" indent="-457200">
              <a:buFontTx/>
              <a:buChar char="-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Disk (recommend for production environment)</a:t>
            </a:r>
          </a:p>
          <a:p>
            <a:pPr marL="457200" indent="-457200">
              <a:buFontTx/>
              <a:buChar char="-"/>
            </a:pP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Tips: ROS only available on Linux based system, so we can’t use Windows or MacOS </a:t>
            </a:r>
          </a:p>
          <a:p>
            <a:pPr marL="457200" indent="-457200">
              <a:buFontTx/>
              <a:buChar char="-"/>
            </a:pP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30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3E903-84CA-1F6A-CD93-FDCC5FA7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7B27309-849F-5DFA-CFAA-3ABD7294D1DD}"/>
              </a:ext>
            </a:extLst>
          </p:cNvPr>
          <p:cNvSpPr txBox="1"/>
          <p:nvPr/>
        </p:nvSpPr>
        <p:spPr>
          <a:xfrm>
            <a:off x="432769" y="530492"/>
            <a:ext cx="2533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Lab 1</a:t>
            </a:r>
            <a:endParaRPr lang="zh-CN" altLang="en-US" sz="3600" dirty="0">
              <a:latin typeface="ADLaM Display" panose="020F0502020204030204" pitchFamily="2" charset="0"/>
              <a:ea typeface="Yu Gothic UI" panose="020B0500000000000000" pitchFamily="34" charset="-128"/>
              <a:cs typeface="ADLaM Display" panose="020F05020202040302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CA3621-096F-57AE-0021-D4F14879F32F}"/>
              </a:ext>
            </a:extLst>
          </p:cNvPr>
          <p:cNvSpPr txBox="1"/>
          <p:nvPr/>
        </p:nvSpPr>
        <p:spPr>
          <a:xfrm>
            <a:off x="1026082" y="1430931"/>
            <a:ext cx="1023881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Shell Basics</a:t>
            </a: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Basics</a:t>
            </a: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altLang="zh-CN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pwd</a:t>
            </a: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, ls, cd, find, </a:t>
            </a:r>
            <a:r>
              <a:rPr lang="en-US" altLang="zh-CN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mkdir</a:t>
            </a: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, touch, rm, cp, mv, cat, nano, </a:t>
            </a:r>
            <a:r>
              <a:rPr lang="en-US" altLang="zh-CN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chmod</a:t>
            </a: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Download file, uncompress: </a:t>
            </a:r>
            <a:r>
              <a:rPr lang="en-US" altLang="zh-CN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wget</a:t>
            </a: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, tar</a:t>
            </a:r>
          </a:p>
          <a:p>
            <a:r>
              <a:rPr lang="en-US" altLang="zh-CN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Pipe</a:t>
            </a: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: using | , example $cat 1.txt | sort</a:t>
            </a:r>
          </a:p>
          <a:p>
            <a:r>
              <a:rPr lang="en-US" altLang="zh-CN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Output redirect</a:t>
            </a: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: &gt; , redirect terminal output to file, example $ls &gt; output.txt, also you can try &gt;, &amp;&gt;, | tee, |&amp; </a:t>
            </a:r>
            <a:r>
              <a:rPr lang="en-US" altLang="zh-CN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tee,and</a:t>
            </a: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see what’s the difference</a:t>
            </a: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Documentation:</a:t>
            </a: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  <a:hlinkClick r:id="rId3"/>
              </a:rPr>
              <a:t>https://www.tutorialspoint.com/unix/index.htm</a:t>
            </a: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  <a:hlinkClick r:id="rId4"/>
              </a:rPr>
              <a:t>https://blog.csdn.net/weilaaer/article/details/131105614</a:t>
            </a: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59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F6FD8-A1FD-63C9-C35C-A5C2F855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25CC35-84A1-FB2B-4F39-A012E8810614}"/>
              </a:ext>
            </a:extLst>
          </p:cNvPr>
          <p:cNvSpPr txBox="1"/>
          <p:nvPr/>
        </p:nvSpPr>
        <p:spPr>
          <a:xfrm>
            <a:off x="432769" y="530492"/>
            <a:ext cx="2533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Lab 1</a:t>
            </a:r>
            <a:endParaRPr lang="zh-CN" altLang="en-US" sz="3600" dirty="0">
              <a:latin typeface="ADLaM Display" panose="020F0502020204030204" pitchFamily="2" charset="0"/>
              <a:ea typeface="Yu Gothic UI" panose="020B0500000000000000" pitchFamily="34" charset="-128"/>
              <a:cs typeface="ADLaM Display" panose="020F05020202040302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90344D-0AF1-EE7D-6C58-E6EF28A8F4EB}"/>
              </a:ext>
            </a:extLst>
          </p:cNvPr>
          <p:cNvSpPr txBox="1"/>
          <p:nvPr/>
        </p:nvSpPr>
        <p:spPr>
          <a:xfrm>
            <a:off x="1026082" y="1430931"/>
            <a:ext cx="1023881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C++</a:t>
            </a: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Resources:</a:t>
            </a:r>
          </a:p>
          <a:p>
            <a:pPr marL="457200" indent="-457200">
              <a:buFontTx/>
              <a:buChar char="-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Book 《C++ Primer》</a:t>
            </a:r>
          </a:p>
          <a:p>
            <a:pPr marL="457200" indent="-457200">
              <a:buFontTx/>
              <a:buChar char="-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Online C++ course: </a:t>
            </a:r>
          </a:p>
          <a:p>
            <a:pPr marL="914400" lvl="1" indent="-457200">
              <a:buFontTx/>
              <a:buChar char="-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  <a:hlinkClick r:id="rId2"/>
              </a:rPr>
              <a:t>https://www.runoob.com/cplusplus/cpp-tutorial.html</a:t>
            </a: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>
              <a:buFontTx/>
              <a:buChar char="-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  <a:hlinkClick r:id="rId3"/>
              </a:rPr>
              <a:t>https://www.w3cschool.cn/cplusplus/</a:t>
            </a: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>
              <a:buFontTx/>
              <a:buChar char="-"/>
            </a:pP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887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81359-6017-033B-A39B-157279881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731C5FC-51F4-ABF4-0ED3-A403989FD613}"/>
              </a:ext>
            </a:extLst>
          </p:cNvPr>
          <p:cNvSpPr txBox="1"/>
          <p:nvPr/>
        </p:nvSpPr>
        <p:spPr>
          <a:xfrm>
            <a:off x="432769" y="530492"/>
            <a:ext cx="2533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Lab 1</a:t>
            </a:r>
            <a:endParaRPr lang="zh-CN" altLang="en-US" sz="3600" dirty="0">
              <a:latin typeface="ADLaM Display" panose="020F0502020204030204" pitchFamily="2" charset="0"/>
              <a:ea typeface="Yu Gothic UI" panose="020B0500000000000000" pitchFamily="34" charset="-128"/>
              <a:cs typeface="ADLaM Display" panose="020F05020202040302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3BE8B7-84FD-6974-928B-005F939AB86E}"/>
              </a:ext>
            </a:extLst>
          </p:cNvPr>
          <p:cNvSpPr txBox="1"/>
          <p:nvPr/>
        </p:nvSpPr>
        <p:spPr>
          <a:xfrm>
            <a:off x="1026082" y="1430931"/>
            <a:ext cx="108992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Git</a:t>
            </a: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Documentations of git:</a:t>
            </a:r>
          </a:p>
          <a:p>
            <a:pPr marL="457200" indent="-457200">
              <a:buFontTx/>
              <a:buChar char="-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Official </a:t>
            </a: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  <a:hlinkClick r:id="rId2"/>
              </a:rPr>
              <a:t>https://git-scm.com/doc</a:t>
            </a: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Unofficial </a:t>
            </a:r>
            <a:r>
              <a:rPr lang="en-US" altLang="zh-CN" sz="2800" dirty="0">
                <a:effectLst/>
                <a:hlinkClick r:id="rId3"/>
              </a:rPr>
              <a:t>https://www.runoob.com/git/git-basic-operations.html</a:t>
            </a: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545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DDB16-8DE0-B23D-3FB3-9B754C3A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09730AA-FBB0-023F-C483-DC8352F6E339}"/>
              </a:ext>
            </a:extLst>
          </p:cNvPr>
          <p:cNvSpPr txBox="1"/>
          <p:nvPr/>
        </p:nvSpPr>
        <p:spPr>
          <a:xfrm>
            <a:off x="432769" y="530492"/>
            <a:ext cx="2533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Lab 1</a:t>
            </a:r>
            <a:endParaRPr lang="zh-CN" altLang="en-US" sz="3600" dirty="0">
              <a:latin typeface="ADLaM Display" panose="020F0502020204030204" pitchFamily="2" charset="0"/>
              <a:ea typeface="Yu Gothic UI" panose="020B0500000000000000" pitchFamily="34" charset="-128"/>
              <a:cs typeface="ADLaM Display" panose="020F05020202040302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9A53EC-BFC2-5D07-536E-F42F1AF83765}"/>
              </a:ext>
            </a:extLst>
          </p:cNvPr>
          <p:cNvSpPr txBox="1"/>
          <p:nvPr/>
        </p:nvSpPr>
        <p:spPr>
          <a:xfrm>
            <a:off x="1026082" y="1430931"/>
            <a:ext cx="102388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CMAKE</a:t>
            </a: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Documentation:</a:t>
            </a: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  <a:hlinkClick r:id="rId2"/>
              </a:rPr>
              <a:t>https://www.runoob.com/cmake/cmake-tutorial.html</a:t>
            </a: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34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DBB2-2726-F965-D12A-B71FABAC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3F6ECEC-C961-A4E7-6035-974AF7C2A5BA}"/>
              </a:ext>
            </a:extLst>
          </p:cNvPr>
          <p:cNvSpPr txBox="1"/>
          <p:nvPr/>
        </p:nvSpPr>
        <p:spPr>
          <a:xfrm>
            <a:off x="432769" y="530492"/>
            <a:ext cx="2533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Lab 1</a:t>
            </a:r>
            <a:endParaRPr lang="zh-CN" altLang="en-US" sz="3600" dirty="0">
              <a:latin typeface="ADLaM Display" panose="020F0502020204030204" pitchFamily="2" charset="0"/>
              <a:ea typeface="Yu Gothic UI" panose="020B0500000000000000" pitchFamily="34" charset="-128"/>
              <a:cs typeface="ADLaM Display" panose="020F05020202040302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3227E0-381B-54BA-7D9D-060AC1F4F263}"/>
              </a:ext>
            </a:extLst>
          </p:cNvPr>
          <p:cNvSpPr txBox="1"/>
          <p:nvPr/>
        </p:nvSpPr>
        <p:spPr>
          <a:xfrm>
            <a:off x="1026082" y="1430931"/>
            <a:ext cx="58930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Here is a simple guidance</a:t>
            </a:r>
            <a:r>
              <a:rPr lang="zh-CN" alt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：</a:t>
            </a:r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https://spurious-cornflower-507.notion.site/Lab-1-Linux-C-Git-e788685e06a84200ae587ffe64258c76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95167D-0F75-4709-A9A6-5F768E620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798" y="1176823"/>
            <a:ext cx="3809524" cy="3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71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5025</TotalTime>
  <Words>279</Words>
  <Application>Microsoft Office PowerPoint</Application>
  <PresentationFormat>宽屏</PresentationFormat>
  <Paragraphs>52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ADLaM Display</vt:lpstr>
      <vt:lpstr>Yu Gothic UI</vt:lpstr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Ocean</dc:creator>
  <cp:lastModifiedBy>范继腾</cp:lastModifiedBy>
  <cp:revision>29</cp:revision>
  <dcterms:created xsi:type="dcterms:W3CDTF">2024-10-10T08:20:39Z</dcterms:created>
  <dcterms:modified xsi:type="dcterms:W3CDTF">2025-11-03T05:48:41Z</dcterms:modified>
</cp:coreProperties>
</file>